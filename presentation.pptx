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2" r:id="rId7"/>
    <p:sldId id="260" r:id="rId8"/>
    <p:sldId id="261" r:id="rId9"/>
    <p:sldId id="263" r:id="rId10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BFB444-7DBC-CA44-A6DD-A4B3F7DBDADB}" v="46" dt="2025-12-26T14:10:48.5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1" d="100"/>
          <a:sy n="111" d="100"/>
        </p:scale>
        <p:origin x="8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266C6-DF1F-216D-341F-2411E17DAE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872B93-08DC-26BF-D14B-1C3A518D3C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FAF1C-4437-09F0-D87F-0B1B878EB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18F5-1E4A-7D42-8173-5979EE6FBC1A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467C6-CD35-4C94-F06E-552991171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9D6DE-8481-DE95-3524-8314E91D9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422D-A3EC-CA4C-B7FA-7308ED4C0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23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8DFA0-91D8-AA55-11E2-CFF0631CF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EA3F8-B5B0-CB49-C40F-351D7E66D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328C5-AF80-78AE-7032-5F39FA84B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18F5-1E4A-7D42-8173-5979EE6FBC1A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E8398-9AB0-D487-7A36-FF9F166B8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A1A38-9E3C-EB91-4C55-9EEE64C6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422D-A3EC-CA4C-B7FA-7308ED4C0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632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C851-38A2-964E-6EF0-DCEAB549C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928670-5CCA-827B-E668-0571EBF42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51A8D-727C-CBB7-7FD0-D20154837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18F5-1E4A-7D42-8173-5979EE6FBC1A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645E1-53F6-F659-02CF-D182077BC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010C4-63E6-892A-8091-9001B0D23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422D-A3EC-CA4C-B7FA-7308ED4C0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76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C64DE-14DC-105C-17F8-57F2CCE05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1DDF3-4C46-1380-4E8B-5D7F7269D2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4C25F9-B01A-1FF1-2867-C6D728CF31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69CAD7-715A-C255-092B-984674F87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18F5-1E4A-7D42-8173-5979EE6FBC1A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B7EC5-AB7D-9413-FC4C-EAF79EF2A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9D496-C7C1-970F-D725-6A50D625E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422D-A3EC-CA4C-B7FA-7308ED4C0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854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6A6BA-5D39-31CB-D46B-B7EB05783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F3B8AC-96EE-0E07-44E0-B3A99B326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E6915B-0208-9E3E-82BD-F22272CF8F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BFA486-DF7A-BC23-B726-CA20A958E4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4BAC07-D651-068D-330A-67152BC94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7148E4-DEE9-5940-7B7B-E5C59B779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18F5-1E4A-7D42-8173-5979EE6FBC1A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B6EF22-4BD1-BB6F-F8DD-895BBDB7E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879C62-0E11-3915-C048-33D4CC3D6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422D-A3EC-CA4C-B7FA-7308ED4C0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118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BF1FC-89C8-B745-F181-4EC2CA862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7506F3-763F-AE9E-1516-C57F832B1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18F5-1E4A-7D42-8173-5979EE6FBC1A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B29D14-FC67-2B22-EFA5-C139B792C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14BEB1-4CE0-45EB-47C8-B991F2D57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422D-A3EC-CA4C-B7FA-7308ED4C0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154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6476EF-61A1-3BD0-0F76-941A00564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18F5-1E4A-7D42-8173-5979EE6FBC1A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DD8582-512A-3A25-B6E9-A681C29FE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A2B84-2606-DDF4-AB75-60B5C14B2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422D-A3EC-CA4C-B7FA-7308ED4C0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700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E3897-3148-148D-D79B-9DBEE233A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74C7B-5CF9-8490-439A-3F5E93E70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C0D746-884F-81CA-3181-102D372043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71C4A-A5C7-C34E-0FB3-A3722085E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18F5-1E4A-7D42-8173-5979EE6FBC1A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987CCA-72DC-749A-21F0-3A15A0678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D2A0DD-65FB-0D6F-73F0-B7897EE01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422D-A3EC-CA4C-B7FA-7308ED4C0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571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826FB-4C4B-F598-BF8E-8B60C6426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DCE053-CA85-8E71-A404-785F7B0590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FF2738-3D96-1D9B-8225-9DDEA557D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A287B-79D3-4627-6026-592FE4A78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18F5-1E4A-7D42-8173-5979EE6FBC1A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0BBDA-3CB9-FD8F-3D72-9F75BDD3B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5EAFEF-B963-6B2E-1E0C-0AA140999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422D-A3EC-CA4C-B7FA-7308ED4C0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33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AC2E8-2615-6D69-1FB4-C71C6E9D5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95976D-2367-EC61-87D0-AEAF0C8E33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5B3B7-EF43-4B84-E7C8-0F16CD3AF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18F5-1E4A-7D42-8173-5979EE6FBC1A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B1169-E005-E32D-6C3C-60CC0ED7F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59F8F-2FDF-8BE9-1197-E75A29E6E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422D-A3EC-CA4C-B7FA-7308ED4C0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700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AFFFD0-C819-AF80-D8E1-60FA1F7681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9A07B-DD6F-17CB-737D-D18E0F478E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AC1CA-707F-6A18-CEFE-D1EE34FD5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18F5-1E4A-7D42-8173-5979EE6FBC1A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7669C-B4C1-391F-E522-464B8724F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9F461-29ED-A9DD-0E25-0095834FF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422D-A3EC-CA4C-B7FA-7308ED4C0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208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87B60F-64C4-2891-D1F4-7291C32ED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51CC7-6D44-FFAD-3183-6EF3B802E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0F536-029E-0F55-0D7F-08C6198F56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8718F5-1E4A-7D42-8173-5979EE6FBC1A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27D0B-029B-AC43-8DD3-10D86CB77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9CF72-3DE5-ED3E-0860-C1133DE61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43422D-A3EC-CA4C-B7FA-7308ED4C0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932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92D63-90DE-8FC5-4122-5EC6AA7A9F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 err="1"/>
              <a:t>GeoPES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477E22-FC94-A274-DB4C-78FF84838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A control-oriented Python package emulation numeric types of polytopes, ellipsoids, and subspaces.</a:t>
            </a:r>
          </a:p>
        </p:txBody>
      </p:sp>
    </p:spTree>
    <p:extLst>
      <p:ext uri="{BB962C8B-B14F-4D97-AF65-F5344CB8AC3E}">
        <p14:creationId xmlns:p14="http://schemas.microsoft.com/office/powerpoint/2010/main" val="2563034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322A1-3F24-5966-98FF-CCC04F2C0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6C9C2-D843-DBB7-0F72-B9A8EAC84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noProof="0" dirty="0"/>
              <a:t>Numeric Type Emulation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Visualization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H-representation and V-representation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Lazy evaluation/loading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Inter-object integration 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Third-party integration (matplotlib/</a:t>
            </a:r>
            <a:r>
              <a:rPr lang="en-US" noProof="0" dirty="0" err="1"/>
              <a:t>cvxpy</a:t>
            </a:r>
            <a:r>
              <a:rPr lang="en-US" noProof="0" dirty="0"/>
              <a:t>)</a:t>
            </a:r>
          </a:p>
          <a:p>
            <a:pPr marL="514350" indent="-514350">
              <a:buFont typeface="+mj-lt"/>
              <a:buAutoNum type="arabicPeriod"/>
            </a:pPr>
            <a:endParaRPr lang="en-US" noProof="0" dirty="0"/>
          </a:p>
          <a:p>
            <a:pPr marL="514350" indent="-514350">
              <a:buFont typeface="+mj-lt"/>
              <a:buAutoNum type="arabicPeriod"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48731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236BF-95E1-F4FB-37F4-A1D55E07A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1. Numeric Type Emulation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90F78-7166-DF2C-BEAC-09EF4A18C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Math operators write like code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r>
              <a:rPr lang="en-US" noProof="0" dirty="0"/>
              <a:t>Goal: To write your code as you would write your math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CDD0C5-142A-CDEC-B724-26BF17CCC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507" y="2514094"/>
            <a:ext cx="5660985" cy="11084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61BDEB-E2F2-534E-902A-D87308EB7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749" y="3622580"/>
            <a:ext cx="4254500" cy="1701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724EAC-FED4-CA45-3310-65313A613C49}"/>
              </a:ext>
            </a:extLst>
          </p:cNvPr>
          <p:cNvSpPr txBox="1"/>
          <p:nvPr/>
        </p:nvSpPr>
        <p:spPr>
          <a:xfrm>
            <a:off x="7340329" y="1506022"/>
            <a:ext cx="4013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>
                <a:solidFill>
                  <a:srgbClr val="FF0000"/>
                </a:solidFill>
              </a:rPr>
              <a:t>FIXME: Add table for operators/types</a:t>
            </a:r>
          </a:p>
        </p:txBody>
      </p:sp>
    </p:spTree>
    <p:extLst>
      <p:ext uri="{BB962C8B-B14F-4D97-AF65-F5344CB8AC3E}">
        <p14:creationId xmlns:p14="http://schemas.microsoft.com/office/powerpoint/2010/main" val="1497374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CCEE4-D9E4-ADB4-69D6-1A39FBC31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14D7B-B72A-2E84-400A-D42043396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2. Visualization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3002F63-6A3A-2E93-5AD8-FC7A3A558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noProof="0" dirty="0"/>
              <a:t>n = 1</a:t>
            </a:r>
          </a:p>
          <a:p>
            <a:r>
              <a:rPr lang="en-US" noProof="0" dirty="0"/>
              <a:t>n = 2</a:t>
            </a:r>
          </a:p>
          <a:p>
            <a:r>
              <a:rPr lang="en-US" noProof="0" dirty="0"/>
              <a:t>n = 3</a:t>
            </a:r>
          </a:p>
        </p:txBody>
      </p:sp>
      <p:pic>
        <p:nvPicPr>
          <p:cNvPr id="11" name="Picture 10" descr="A graph of a oval in a grid&#10;&#10;AI-generated content may be incorrect.">
            <a:extLst>
              <a:ext uri="{FF2B5EF4-FFF2-40B4-BE49-F238E27FC236}">
                <a16:creationId xmlns:a16="http://schemas.microsoft.com/office/drawing/2014/main" id="{5980309A-2DC5-9F55-F477-85F5CCB85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365" y="2753584"/>
            <a:ext cx="2827438" cy="23102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D5852F-1D36-5656-AD50-AA6EB80B4829}"/>
              </a:ext>
            </a:extLst>
          </p:cNvPr>
          <p:cNvSpPr txBox="1"/>
          <p:nvPr/>
        </p:nvSpPr>
        <p:spPr>
          <a:xfrm>
            <a:off x="2118845" y="5764044"/>
            <a:ext cx="6874685" cy="646331"/>
          </a:xfrm>
          <a:prstGeom prst="rect">
            <a:avLst/>
          </a:prstGeom>
          <a:solidFill>
            <a:srgbClr val="EC7246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FFFFFF"/>
                </a:solidFill>
              </a:rPr>
              <a:t>Challenge: </a:t>
            </a:r>
            <a:r>
              <a:rPr lang="en-US" noProof="0" dirty="0">
                <a:solidFill>
                  <a:srgbClr val="FFFFFF"/>
                </a:solidFill>
              </a:rPr>
              <a:t>Plotting polytopes in 2D/3D requires ‘sorting’ the vertices/associating each vertex with its corresponding halfplane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A4EFDDD7-DAC3-AF3A-556B-34E5A68449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13" t="14432" r="8302" b="8890"/>
          <a:stretch>
            <a:fillRect/>
          </a:stretch>
        </p:blipFill>
        <p:spPr bwMode="auto">
          <a:xfrm>
            <a:off x="6096000" y="2753584"/>
            <a:ext cx="2827438" cy="231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3348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D9DF1-4C77-12DC-8531-9927F0AE6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7178D-EA2F-DAD2-E948-C9BB177DF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2. Visualization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EAC4FD7-0C6C-443D-C688-EF13A102E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noProof="0" dirty="0"/>
              <a:t>Also, extensive pretty printing and printing formats for the </a:t>
            </a:r>
            <a:r>
              <a:rPr lang="en-US" noProof="0"/>
              <a:t>different classes.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37311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F2BA3-3ADE-0C66-50CF-27866EACF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2EE6A-AD05-6EA6-1A4A-7EA327C18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3. H-representation and V-representation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388D0C5-9C20-8EDC-28CB-9D9FA974C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noProof="0" dirty="0"/>
              <a:t>A polytope can be represented as either an H-representation or a V-representation: upon creation, the other representation is not explicitly computed (because this can be computationally very expensive).</a:t>
            </a:r>
          </a:p>
          <a:p>
            <a:r>
              <a:rPr lang="en-US" noProof="0" dirty="0"/>
              <a:t>Achieved by operator overload of __</a:t>
            </a:r>
            <a:r>
              <a:rPr lang="en-US" noProof="0" dirty="0" err="1"/>
              <a:t>init</a:t>
            </a:r>
            <a:r>
              <a:rPr lang="en-US" noProof="0" dirty="0"/>
              <a:t>__ method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B8FC3-8718-3D02-C2DA-DF27B7F4C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469" y="4001294"/>
            <a:ext cx="4063678" cy="254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301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C968A-2FF9-EEF0-AD71-4287E9686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79F48-7165-7991-F11F-8BC1A9748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4. Lazy evaluation/loading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DA5731D-E44C-09F3-F516-2CA8FBB0E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571500" indent="-571500">
              <a:buFont typeface="+mj-lt"/>
              <a:buAutoNum type="romanUcPeriod"/>
            </a:pPr>
            <a:r>
              <a:rPr lang="en-US" noProof="0" dirty="0"/>
              <a:t>Certain properties (i.e., </a:t>
            </a:r>
            <a:r>
              <a:rPr lang="en-US" noProof="0" dirty="0" err="1"/>
              <a:t>poly.vol</a:t>
            </a:r>
            <a:r>
              <a:rPr lang="en-US" noProof="0" dirty="0"/>
              <a:t>) are expensive to calculate. These properties are not calculated at object initialization, but only when the ‘attribute’ is accessed (and then, they are saved to the object).</a:t>
            </a:r>
          </a:p>
          <a:p>
            <a:pPr lvl="1"/>
            <a:r>
              <a:rPr lang="en-US" noProof="0" dirty="0"/>
              <a:t>Same for H-</a:t>
            </a:r>
            <a:r>
              <a:rPr lang="en-US" noProof="0" dirty="0" err="1"/>
              <a:t>repr</a:t>
            </a:r>
            <a:r>
              <a:rPr lang="en-US" noProof="0" dirty="0"/>
              <a:t> and V-</a:t>
            </a:r>
            <a:r>
              <a:rPr lang="en-US" noProof="0" dirty="0" err="1"/>
              <a:t>repr</a:t>
            </a:r>
            <a:r>
              <a:rPr lang="en-US" noProof="0" dirty="0"/>
              <a:t> of a polytope.</a:t>
            </a:r>
          </a:p>
          <a:p>
            <a:pPr marL="571500" indent="-571500">
              <a:buFont typeface="+mj-lt"/>
              <a:buAutoNum type="romanUcPeriod"/>
            </a:pPr>
            <a:r>
              <a:rPr lang="en-US" noProof="0" dirty="0"/>
              <a:t>Certain packages (e.g., matplotlib/</a:t>
            </a:r>
            <a:r>
              <a:rPr lang="en-US" noProof="0" dirty="0" err="1"/>
              <a:t>cvxpy</a:t>
            </a:r>
            <a:r>
              <a:rPr lang="en-US" noProof="0" dirty="0"/>
              <a:t>) are optional dependencies. These are only imported when called.</a:t>
            </a:r>
          </a:p>
          <a:p>
            <a:pPr lvl="1"/>
            <a:r>
              <a:rPr lang="en-US" noProof="0" dirty="0"/>
              <a:t>Might create a marginal speed-up.</a:t>
            </a:r>
          </a:p>
          <a:p>
            <a:pPr lvl="1"/>
            <a:r>
              <a:rPr lang="en-US" noProof="0" dirty="0"/>
              <a:t>The least possible amount of dependencies -&gt; improves longevity.</a:t>
            </a:r>
          </a:p>
          <a:p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009382-CC2F-76DB-A9A7-2CD6A9F9E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700" y="5707063"/>
            <a:ext cx="73406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428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EF6F4-8AF4-E484-83E6-38FB266F0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5311A-285F-1AF0-AA22-035F54751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5. Inter-object integration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FFE622F-DF29-F4DB-3761-6132F1BF7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noProof="0" dirty="0"/>
              <a:t>The toolbox allows the user to do operations between objects of different classes seamlessly.</a:t>
            </a:r>
          </a:p>
          <a:p>
            <a:r>
              <a:rPr lang="en-US" noProof="0" dirty="0"/>
              <a:t>Intersection ellipsoid with subspace -&gt; ellipsoid</a:t>
            </a:r>
          </a:p>
          <a:p>
            <a:r>
              <a:rPr lang="en-US" noProof="0" dirty="0"/>
              <a:t>Projection of polytope on subspace -&gt; polytope</a:t>
            </a:r>
          </a:p>
          <a:p>
            <a:r>
              <a:rPr lang="en-US" noProof="0" dirty="0"/>
              <a:t>Over/under-approximating an ellipsoid with a polytope</a:t>
            </a:r>
          </a:p>
          <a:p>
            <a:r>
              <a:rPr lang="en-US" noProof="0" dirty="0"/>
              <a:t>Over/under-approximating a polytope with an ellipsoid</a:t>
            </a:r>
          </a:p>
          <a:p>
            <a:r>
              <a:rPr lang="en-US" noProof="0" dirty="0"/>
              <a:t>⋮</a:t>
            </a:r>
          </a:p>
        </p:txBody>
      </p:sp>
    </p:spTree>
    <p:extLst>
      <p:ext uri="{BB962C8B-B14F-4D97-AF65-F5344CB8AC3E}">
        <p14:creationId xmlns:p14="http://schemas.microsoft.com/office/powerpoint/2010/main" val="3686185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443AF-D87D-72C4-C0B5-43B921A83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E7113-CCF9-8A13-4E22-BF2A99CFA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6. External libraries integration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D51A29D-AE98-D7FA-EE99-8D99F651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noProof="0" dirty="0"/>
              <a:t>The toolbox has special integration features with external libraries.</a:t>
            </a:r>
          </a:p>
          <a:p>
            <a:r>
              <a:rPr lang="en-US" dirty="0"/>
              <a:t>c</a:t>
            </a:r>
            <a:r>
              <a:rPr lang="en-US" noProof="0" dirty="0" err="1"/>
              <a:t>vxpy</a:t>
            </a:r>
            <a:r>
              <a:rPr lang="en-US" noProof="0" dirty="0"/>
              <a:t>: used for internal optimization and external convex optimization problems formulation.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640261-66E3-4718-6FCF-FF62042E2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011" y="3325098"/>
            <a:ext cx="8681977" cy="832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444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338</Words>
  <Application>Microsoft Macintosh PowerPoint</Application>
  <PresentationFormat>Widescreen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GeoPES</vt:lpstr>
      <vt:lpstr>Features</vt:lpstr>
      <vt:lpstr>1. Numeric Type Emulation</vt:lpstr>
      <vt:lpstr>2. Visualization</vt:lpstr>
      <vt:lpstr>2. Visualization</vt:lpstr>
      <vt:lpstr>3. H-representation and V-representation</vt:lpstr>
      <vt:lpstr>4. Lazy evaluation/loading</vt:lpstr>
      <vt:lpstr>5. Inter-object integration</vt:lpstr>
      <vt:lpstr>6. External libraries integration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 Wolleswinkel</dc:creator>
  <cp:lastModifiedBy>Bart Wolleswinkel</cp:lastModifiedBy>
  <cp:revision>1</cp:revision>
  <dcterms:created xsi:type="dcterms:W3CDTF">2025-12-26T12:43:44Z</dcterms:created>
  <dcterms:modified xsi:type="dcterms:W3CDTF">2025-12-26T14:11:08Z</dcterms:modified>
</cp:coreProperties>
</file>